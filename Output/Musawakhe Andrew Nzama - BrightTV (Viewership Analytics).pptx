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sldIdLst>
    <p:sldId id="257" r:id="rId5"/>
    <p:sldId id="258" r:id="rId6"/>
    <p:sldId id="259" r:id="rId7"/>
    <p:sldId id="261"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Nzama" userId="a926327f-0c74-423b-91d7-9437b334ead1" providerId="ADAL" clId="{5AD56682-2AB9-4B85-9FFC-28E75221CC10}"/>
    <pc:docChg chg="modSld">
      <pc:chgData name="Andrew Nzama" userId="a926327f-0c74-423b-91d7-9437b334ead1" providerId="ADAL" clId="{5AD56682-2AB9-4B85-9FFC-28E75221CC10}" dt="2025-10-31T13:56:36.653" v="0" actId="14100"/>
      <pc:docMkLst>
        <pc:docMk/>
      </pc:docMkLst>
      <pc:sldChg chg="modSp mod">
        <pc:chgData name="Andrew Nzama" userId="a926327f-0c74-423b-91d7-9437b334ead1" providerId="ADAL" clId="{5AD56682-2AB9-4B85-9FFC-28E75221CC10}" dt="2025-10-31T13:56:36.653" v="0" actId="14100"/>
        <pc:sldMkLst>
          <pc:docMk/>
          <pc:sldMk cId="3538416063" sldId="260"/>
        </pc:sldMkLst>
        <pc:spChg chg="mod">
          <ac:chgData name="Andrew Nzama" userId="a926327f-0c74-423b-91d7-9437b334ead1" providerId="ADAL" clId="{5AD56682-2AB9-4B85-9FFC-28E75221CC10}" dt="2025-10-31T13:56:36.653" v="0" actId="14100"/>
          <ac:spMkLst>
            <pc:docMk/>
            <pc:sldMk cId="3538416063" sldId="260"/>
            <ac:spMk id="3" creationId="{214CCA32-BDF4-5C28-E5B0-925C067EF103}"/>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ZA" dirty="0"/>
              <a:t>Channel</a:t>
            </a:r>
            <a:r>
              <a:rPr lang="en-ZA" baseline="0" dirty="0"/>
              <a:t> Category - Consumption by Province</a:t>
            </a:r>
            <a:endParaRPr lang="en-ZA"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Entertainment</c:v>
                </c:pt>
              </c:strCache>
            </c:strRef>
          </c:tx>
          <c:spPr>
            <a:solidFill>
              <a:schemeClr val="accent1"/>
            </a:solidFill>
            <a:ln>
              <a:noFill/>
            </a:ln>
            <a:effectLst/>
          </c:spPr>
          <c:invertIfNegative val="0"/>
          <c:cat>
            <c:strRef>
              <c:f>Sheet1!$A$2:$A$11</c:f>
              <c:strCache>
                <c:ptCount val="10"/>
                <c:pt idx="0">
                  <c:v>Eastern Cape</c:v>
                </c:pt>
                <c:pt idx="1">
                  <c:v>Free State</c:v>
                </c:pt>
                <c:pt idx="2">
                  <c:v>Gauteng</c:v>
                </c:pt>
                <c:pt idx="3">
                  <c:v>Kwazulu Natal</c:v>
                </c:pt>
                <c:pt idx="4">
                  <c:v>Limpopo</c:v>
                </c:pt>
                <c:pt idx="5">
                  <c:v>Mpumalanga</c:v>
                </c:pt>
                <c:pt idx="6">
                  <c:v>None</c:v>
                </c:pt>
                <c:pt idx="7">
                  <c:v>North West</c:v>
                </c:pt>
                <c:pt idx="8">
                  <c:v>Northern Cape</c:v>
                </c:pt>
                <c:pt idx="9">
                  <c:v>Western Cape</c:v>
                </c:pt>
              </c:strCache>
            </c:strRef>
          </c:cat>
          <c:val>
            <c:numRef>
              <c:f>Sheet1!$B$2:$B$11</c:f>
              <c:numCache>
                <c:formatCode>General</c:formatCode>
                <c:ptCount val="10"/>
                <c:pt idx="0">
                  <c:v>189</c:v>
                </c:pt>
                <c:pt idx="1">
                  <c:v>84</c:v>
                </c:pt>
                <c:pt idx="2">
                  <c:v>888</c:v>
                </c:pt>
                <c:pt idx="3">
                  <c:v>259</c:v>
                </c:pt>
                <c:pt idx="4">
                  <c:v>195</c:v>
                </c:pt>
                <c:pt idx="5">
                  <c:v>293</c:v>
                </c:pt>
                <c:pt idx="6">
                  <c:v>61</c:v>
                </c:pt>
                <c:pt idx="7">
                  <c:v>123</c:v>
                </c:pt>
                <c:pt idx="8">
                  <c:v>85</c:v>
                </c:pt>
                <c:pt idx="9">
                  <c:v>326</c:v>
                </c:pt>
              </c:numCache>
            </c:numRef>
          </c:val>
          <c:extLst>
            <c:ext xmlns:c16="http://schemas.microsoft.com/office/drawing/2014/chart" uri="{C3380CC4-5D6E-409C-BE32-E72D297353CC}">
              <c16:uniqueId val="{00000000-A37F-4D8C-ABE0-90797352CA16}"/>
            </c:ext>
          </c:extLst>
        </c:ser>
        <c:ser>
          <c:idx val="1"/>
          <c:order val="1"/>
          <c:tx>
            <c:strRef>
              <c:f>Sheet1!$C$1</c:f>
              <c:strCache>
                <c:ptCount val="1"/>
                <c:pt idx="0">
                  <c:v>Kids</c:v>
                </c:pt>
              </c:strCache>
            </c:strRef>
          </c:tx>
          <c:spPr>
            <a:solidFill>
              <a:schemeClr val="accent2"/>
            </a:solidFill>
            <a:ln>
              <a:noFill/>
            </a:ln>
            <a:effectLst/>
          </c:spPr>
          <c:invertIfNegative val="0"/>
          <c:cat>
            <c:strRef>
              <c:f>Sheet1!$A$2:$A$11</c:f>
              <c:strCache>
                <c:ptCount val="10"/>
                <c:pt idx="0">
                  <c:v>Eastern Cape</c:v>
                </c:pt>
                <c:pt idx="1">
                  <c:v>Free State</c:v>
                </c:pt>
                <c:pt idx="2">
                  <c:v>Gauteng</c:v>
                </c:pt>
                <c:pt idx="3">
                  <c:v>Kwazulu Natal</c:v>
                </c:pt>
                <c:pt idx="4">
                  <c:v>Limpopo</c:v>
                </c:pt>
                <c:pt idx="5">
                  <c:v>Mpumalanga</c:v>
                </c:pt>
                <c:pt idx="6">
                  <c:v>None</c:v>
                </c:pt>
                <c:pt idx="7">
                  <c:v>North West</c:v>
                </c:pt>
                <c:pt idx="8">
                  <c:v>Northern Cape</c:v>
                </c:pt>
                <c:pt idx="9">
                  <c:v>Western Cape</c:v>
                </c:pt>
              </c:strCache>
            </c:strRef>
          </c:cat>
          <c:val>
            <c:numRef>
              <c:f>Sheet1!$C$2:$C$11</c:f>
              <c:numCache>
                <c:formatCode>General</c:formatCode>
                <c:ptCount val="10"/>
                <c:pt idx="0">
                  <c:v>111</c:v>
                </c:pt>
                <c:pt idx="1">
                  <c:v>42</c:v>
                </c:pt>
                <c:pt idx="2">
                  <c:v>536</c:v>
                </c:pt>
                <c:pt idx="3">
                  <c:v>151</c:v>
                </c:pt>
                <c:pt idx="4">
                  <c:v>96</c:v>
                </c:pt>
                <c:pt idx="5">
                  <c:v>161</c:v>
                </c:pt>
                <c:pt idx="6">
                  <c:v>35</c:v>
                </c:pt>
                <c:pt idx="7">
                  <c:v>47</c:v>
                </c:pt>
                <c:pt idx="8">
                  <c:v>39</c:v>
                </c:pt>
                <c:pt idx="9">
                  <c:v>289</c:v>
                </c:pt>
              </c:numCache>
            </c:numRef>
          </c:val>
          <c:extLst>
            <c:ext xmlns:c16="http://schemas.microsoft.com/office/drawing/2014/chart" uri="{C3380CC4-5D6E-409C-BE32-E72D297353CC}">
              <c16:uniqueId val="{00000001-A37F-4D8C-ABE0-90797352CA16}"/>
            </c:ext>
          </c:extLst>
        </c:ser>
        <c:ser>
          <c:idx val="2"/>
          <c:order val="2"/>
          <c:tx>
            <c:strRef>
              <c:f>Sheet1!$D$1</c:f>
              <c:strCache>
                <c:ptCount val="1"/>
                <c:pt idx="0">
                  <c:v>Other</c:v>
                </c:pt>
              </c:strCache>
            </c:strRef>
          </c:tx>
          <c:spPr>
            <a:solidFill>
              <a:schemeClr val="accent3"/>
            </a:solidFill>
            <a:ln>
              <a:noFill/>
            </a:ln>
            <a:effectLst/>
          </c:spPr>
          <c:invertIfNegative val="0"/>
          <c:cat>
            <c:strRef>
              <c:f>Sheet1!$A$2:$A$11</c:f>
              <c:strCache>
                <c:ptCount val="10"/>
                <c:pt idx="0">
                  <c:v>Eastern Cape</c:v>
                </c:pt>
                <c:pt idx="1">
                  <c:v>Free State</c:v>
                </c:pt>
                <c:pt idx="2">
                  <c:v>Gauteng</c:v>
                </c:pt>
                <c:pt idx="3">
                  <c:v>Kwazulu Natal</c:v>
                </c:pt>
                <c:pt idx="4">
                  <c:v>Limpopo</c:v>
                </c:pt>
                <c:pt idx="5">
                  <c:v>Mpumalanga</c:v>
                </c:pt>
                <c:pt idx="6">
                  <c:v>None</c:v>
                </c:pt>
                <c:pt idx="7">
                  <c:v>North West</c:v>
                </c:pt>
                <c:pt idx="8">
                  <c:v>Northern Cape</c:v>
                </c:pt>
                <c:pt idx="9">
                  <c:v>Western Cape</c:v>
                </c:pt>
              </c:strCache>
            </c:strRef>
          </c:cat>
          <c:val>
            <c:numRef>
              <c:f>Sheet1!$D$2:$D$11</c:f>
              <c:numCache>
                <c:formatCode>General</c:formatCode>
                <c:ptCount val="10"/>
                <c:pt idx="0">
                  <c:v>247</c:v>
                </c:pt>
                <c:pt idx="1">
                  <c:v>106</c:v>
                </c:pt>
                <c:pt idx="2">
                  <c:v>1343</c:v>
                </c:pt>
                <c:pt idx="3">
                  <c:v>370</c:v>
                </c:pt>
                <c:pt idx="4">
                  <c:v>213</c:v>
                </c:pt>
                <c:pt idx="5">
                  <c:v>287</c:v>
                </c:pt>
                <c:pt idx="6">
                  <c:v>88</c:v>
                </c:pt>
                <c:pt idx="7">
                  <c:v>106</c:v>
                </c:pt>
                <c:pt idx="8">
                  <c:v>77</c:v>
                </c:pt>
                <c:pt idx="9">
                  <c:v>787</c:v>
                </c:pt>
              </c:numCache>
            </c:numRef>
          </c:val>
          <c:extLst>
            <c:ext xmlns:c16="http://schemas.microsoft.com/office/drawing/2014/chart" uri="{C3380CC4-5D6E-409C-BE32-E72D297353CC}">
              <c16:uniqueId val="{00000002-A37F-4D8C-ABE0-90797352CA16}"/>
            </c:ext>
          </c:extLst>
        </c:ser>
        <c:ser>
          <c:idx val="3"/>
          <c:order val="3"/>
          <c:tx>
            <c:strRef>
              <c:f>Sheet1!$E$1</c:f>
              <c:strCache>
                <c:ptCount val="1"/>
                <c:pt idx="0">
                  <c:v>Sports</c:v>
                </c:pt>
              </c:strCache>
            </c:strRef>
          </c:tx>
          <c:spPr>
            <a:solidFill>
              <a:schemeClr val="accent4"/>
            </a:solidFill>
            <a:ln>
              <a:noFill/>
            </a:ln>
            <a:effectLst/>
          </c:spPr>
          <c:invertIfNegative val="0"/>
          <c:cat>
            <c:strRef>
              <c:f>Sheet1!$A$2:$A$11</c:f>
              <c:strCache>
                <c:ptCount val="10"/>
                <c:pt idx="0">
                  <c:v>Eastern Cape</c:v>
                </c:pt>
                <c:pt idx="1">
                  <c:v>Free State</c:v>
                </c:pt>
                <c:pt idx="2">
                  <c:v>Gauteng</c:v>
                </c:pt>
                <c:pt idx="3">
                  <c:v>Kwazulu Natal</c:v>
                </c:pt>
                <c:pt idx="4">
                  <c:v>Limpopo</c:v>
                </c:pt>
                <c:pt idx="5">
                  <c:v>Mpumalanga</c:v>
                </c:pt>
                <c:pt idx="6">
                  <c:v>None</c:v>
                </c:pt>
                <c:pt idx="7">
                  <c:v>North West</c:v>
                </c:pt>
                <c:pt idx="8">
                  <c:v>Northern Cape</c:v>
                </c:pt>
                <c:pt idx="9">
                  <c:v>Western Cape</c:v>
                </c:pt>
              </c:strCache>
            </c:strRef>
          </c:cat>
          <c:val>
            <c:numRef>
              <c:f>Sheet1!$E$2:$E$11</c:f>
              <c:numCache>
                <c:formatCode>General</c:formatCode>
                <c:ptCount val="10"/>
                <c:pt idx="0">
                  <c:v>143</c:v>
                </c:pt>
                <c:pt idx="1">
                  <c:v>60</c:v>
                </c:pt>
                <c:pt idx="2">
                  <c:v>887</c:v>
                </c:pt>
                <c:pt idx="3">
                  <c:v>221</c:v>
                </c:pt>
                <c:pt idx="4">
                  <c:v>259</c:v>
                </c:pt>
                <c:pt idx="5">
                  <c:v>177</c:v>
                </c:pt>
                <c:pt idx="6">
                  <c:v>79</c:v>
                </c:pt>
                <c:pt idx="7">
                  <c:v>68</c:v>
                </c:pt>
                <c:pt idx="8">
                  <c:v>29</c:v>
                </c:pt>
                <c:pt idx="9">
                  <c:v>443</c:v>
                </c:pt>
              </c:numCache>
            </c:numRef>
          </c:val>
          <c:extLst>
            <c:ext xmlns:c16="http://schemas.microsoft.com/office/drawing/2014/chart" uri="{C3380CC4-5D6E-409C-BE32-E72D297353CC}">
              <c16:uniqueId val="{00000003-A37F-4D8C-ABE0-90797352CA16}"/>
            </c:ext>
          </c:extLst>
        </c:ser>
        <c:dLbls>
          <c:showLegendKey val="0"/>
          <c:showVal val="0"/>
          <c:showCatName val="0"/>
          <c:showSerName val="0"/>
          <c:showPercent val="0"/>
          <c:showBubbleSize val="0"/>
        </c:dLbls>
        <c:gapWidth val="219"/>
        <c:axId val="2065083631"/>
        <c:axId val="2065087951"/>
      </c:barChart>
      <c:catAx>
        <c:axId val="20650836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65087951"/>
        <c:crosses val="autoZero"/>
        <c:auto val="1"/>
        <c:lblAlgn val="ctr"/>
        <c:lblOffset val="100"/>
        <c:noMultiLvlLbl val="0"/>
      </c:catAx>
      <c:valAx>
        <c:axId val="206508795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65083631"/>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Afternoon</c:v>
                </c:pt>
              </c:strCache>
            </c:strRef>
          </c:tx>
          <c:spPr>
            <a:solidFill>
              <a:schemeClr val="accent6"/>
            </a:solidFill>
            <a:ln w="19050">
              <a:solidFill>
                <a:schemeClr val="lt1"/>
              </a:solidFill>
            </a:ln>
            <a:effectLst/>
          </c:spPr>
          <c:invertIfNegative val="0"/>
          <c:cat>
            <c:strRef>
              <c:f>Sheet1!$A$2:$A$20</c:f>
              <c:strCache>
                <c:ptCount val="19"/>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SawSee</c:v>
                </c:pt>
                <c:pt idx="14">
                  <c:v>SuperSport Blitz</c:v>
                </c:pt>
                <c:pt idx="15">
                  <c:v>Supersport Live Events</c:v>
                </c:pt>
                <c:pt idx="16">
                  <c:v>Trace TV</c:v>
                </c:pt>
                <c:pt idx="17">
                  <c:v>Vuzu</c:v>
                </c:pt>
                <c:pt idx="18">
                  <c:v>Wimbledon</c:v>
                </c:pt>
              </c:strCache>
            </c:strRef>
          </c:cat>
          <c:val>
            <c:numRef>
              <c:f>Sheet1!$B$2:$B$20</c:f>
              <c:numCache>
                <c:formatCode>General</c:formatCode>
                <c:ptCount val="19"/>
                <c:pt idx="0">
                  <c:v>169</c:v>
                </c:pt>
                <c:pt idx="1">
                  <c:v>139</c:v>
                </c:pt>
                <c:pt idx="2">
                  <c:v>6</c:v>
                </c:pt>
                <c:pt idx="3">
                  <c:v>184</c:v>
                </c:pt>
                <c:pt idx="4">
                  <c:v>211</c:v>
                </c:pt>
                <c:pt idx="5">
                  <c:v>103</c:v>
                </c:pt>
                <c:pt idx="6">
                  <c:v>25</c:v>
                </c:pt>
                <c:pt idx="7">
                  <c:v>74</c:v>
                </c:pt>
                <c:pt idx="8">
                  <c:v>136</c:v>
                </c:pt>
                <c:pt idx="9">
                  <c:v>13</c:v>
                </c:pt>
                <c:pt idx="11">
                  <c:v>5</c:v>
                </c:pt>
                <c:pt idx="12">
                  <c:v>24</c:v>
                </c:pt>
                <c:pt idx="13">
                  <c:v>50</c:v>
                </c:pt>
                <c:pt idx="14">
                  <c:v>194</c:v>
                </c:pt>
                <c:pt idx="15">
                  <c:v>365</c:v>
                </c:pt>
                <c:pt idx="16">
                  <c:v>171</c:v>
                </c:pt>
                <c:pt idx="17">
                  <c:v>28</c:v>
                </c:pt>
              </c:numCache>
            </c:numRef>
          </c:val>
          <c:extLst>
            <c:ext xmlns:c16="http://schemas.microsoft.com/office/drawing/2014/chart" uri="{C3380CC4-5D6E-409C-BE32-E72D297353CC}">
              <c16:uniqueId val="{00000000-8F6A-45B3-8C44-E3940E3A8BEA}"/>
            </c:ext>
          </c:extLst>
        </c:ser>
        <c:ser>
          <c:idx val="1"/>
          <c:order val="1"/>
          <c:tx>
            <c:strRef>
              <c:f>Sheet1!$C$1</c:f>
              <c:strCache>
                <c:ptCount val="1"/>
                <c:pt idx="0">
                  <c:v>Early Morning</c:v>
                </c:pt>
              </c:strCache>
            </c:strRef>
          </c:tx>
          <c:spPr>
            <a:solidFill>
              <a:schemeClr val="accent5"/>
            </a:solidFill>
            <a:ln w="19050">
              <a:solidFill>
                <a:schemeClr val="lt1"/>
              </a:solidFill>
            </a:ln>
            <a:effectLst/>
          </c:spPr>
          <c:invertIfNegative val="0"/>
          <c:cat>
            <c:strRef>
              <c:f>Sheet1!$A$2:$A$20</c:f>
              <c:strCache>
                <c:ptCount val="19"/>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SawSee</c:v>
                </c:pt>
                <c:pt idx="14">
                  <c:v>SuperSport Blitz</c:v>
                </c:pt>
                <c:pt idx="15">
                  <c:v>Supersport Live Events</c:v>
                </c:pt>
                <c:pt idx="16">
                  <c:v>Trace TV</c:v>
                </c:pt>
                <c:pt idx="17">
                  <c:v>Vuzu</c:v>
                </c:pt>
                <c:pt idx="18">
                  <c:v>Wimbledon</c:v>
                </c:pt>
              </c:strCache>
            </c:strRef>
          </c:cat>
          <c:val>
            <c:numRef>
              <c:f>Sheet1!$C$2:$C$20</c:f>
              <c:numCache>
                <c:formatCode>General</c:formatCode>
                <c:ptCount val="19"/>
                <c:pt idx="0">
                  <c:v>78</c:v>
                </c:pt>
                <c:pt idx="1">
                  <c:v>81</c:v>
                </c:pt>
                <c:pt idx="2">
                  <c:v>5</c:v>
                </c:pt>
                <c:pt idx="3">
                  <c:v>74</c:v>
                </c:pt>
                <c:pt idx="4">
                  <c:v>99</c:v>
                </c:pt>
                <c:pt idx="5">
                  <c:v>66</c:v>
                </c:pt>
                <c:pt idx="6">
                  <c:v>10</c:v>
                </c:pt>
                <c:pt idx="7">
                  <c:v>31</c:v>
                </c:pt>
                <c:pt idx="8">
                  <c:v>32</c:v>
                </c:pt>
                <c:pt idx="9">
                  <c:v>1</c:v>
                </c:pt>
                <c:pt idx="10">
                  <c:v>1</c:v>
                </c:pt>
                <c:pt idx="11">
                  <c:v>3</c:v>
                </c:pt>
                <c:pt idx="12">
                  <c:v>10</c:v>
                </c:pt>
                <c:pt idx="13">
                  <c:v>22</c:v>
                </c:pt>
                <c:pt idx="14">
                  <c:v>83</c:v>
                </c:pt>
                <c:pt idx="15">
                  <c:v>64</c:v>
                </c:pt>
                <c:pt idx="16">
                  <c:v>87</c:v>
                </c:pt>
                <c:pt idx="17">
                  <c:v>9</c:v>
                </c:pt>
              </c:numCache>
            </c:numRef>
          </c:val>
          <c:extLst>
            <c:ext xmlns:c16="http://schemas.microsoft.com/office/drawing/2014/chart" uri="{C3380CC4-5D6E-409C-BE32-E72D297353CC}">
              <c16:uniqueId val="{00000001-8F6A-45B3-8C44-E3940E3A8BEA}"/>
            </c:ext>
          </c:extLst>
        </c:ser>
        <c:ser>
          <c:idx val="2"/>
          <c:order val="2"/>
          <c:tx>
            <c:strRef>
              <c:f>Sheet1!$D$1</c:f>
              <c:strCache>
                <c:ptCount val="1"/>
                <c:pt idx="0">
                  <c:v>Evening</c:v>
                </c:pt>
              </c:strCache>
            </c:strRef>
          </c:tx>
          <c:spPr>
            <a:solidFill>
              <a:schemeClr val="accent4"/>
            </a:solidFill>
            <a:ln w="19050">
              <a:solidFill>
                <a:schemeClr val="lt1"/>
              </a:solidFill>
            </a:ln>
            <a:effectLst/>
          </c:spPr>
          <c:invertIfNegative val="0"/>
          <c:cat>
            <c:strRef>
              <c:f>Sheet1!$A$2:$A$20</c:f>
              <c:strCache>
                <c:ptCount val="19"/>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SawSee</c:v>
                </c:pt>
                <c:pt idx="14">
                  <c:v>SuperSport Blitz</c:v>
                </c:pt>
                <c:pt idx="15">
                  <c:v>Supersport Live Events</c:v>
                </c:pt>
                <c:pt idx="16">
                  <c:v>Trace TV</c:v>
                </c:pt>
                <c:pt idx="17">
                  <c:v>Vuzu</c:v>
                </c:pt>
                <c:pt idx="18">
                  <c:v>Wimbledon</c:v>
                </c:pt>
              </c:strCache>
            </c:strRef>
          </c:cat>
          <c:val>
            <c:numRef>
              <c:f>Sheet1!$D$2:$D$20</c:f>
              <c:numCache>
                <c:formatCode>General</c:formatCode>
                <c:ptCount val="19"/>
                <c:pt idx="0">
                  <c:v>198</c:v>
                </c:pt>
                <c:pt idx="1">
                  <c:v>138</c:v>
                </c:pt>
                <c:pt idx="2">
                  <c:v>34</c:v>
                </c:pt>
                <c:pt idx="3">
                  <c:v>138</c:v>
                </c:pt>
                <c:pt idx="4">
                  <c:v>195</c:v>
                </c:pt>
                <c:pt idx="5">
                  <c:v>94</c:v>
                </c:pt>
                <c:pt idx="6">
                  <c:v>20</c:v>
                </c:pt>
                <c:pt idx="7">
                  <c:v>101</c:v>
                </c:pt>
                <c:pt idx="8">
                  <c:v>21</c:v>
                </c:pt>
                <c:pt idx="9">
                  <c:v>14</c:v>
                </c:pt>
                <c:pt idx="10">
                  <c:v>1</c:v>
                </c:pt>
                <c:pt idx="11">
                  <c:v>9</c:v>
                </c:pt>
                <c:pt idx="12">
                  <c:v>31</c:v>
                </c:pt>
                <c:pt idx="13">
                  <c:v>64</c:v>
                </c:pt>
                <c:pt idx="14">
                  <c:v>159</c:v>
                </c:pt>
                <c:pt idx="15">
                  <c:v>272</c:v>
                </c:pt>
                <c:pt idx="16">
                  <c:v>215</c:v>
                </c:pt>
                <c:pt idx="17">
                  <c:v>26</c:v>
                </c:pt>
              </c:numCache>
            </c:numRef>
          </c:val>
          <c:extLst>
            <c:ext xmlns:c16="http://schemas.microsoft.com/office/drawing/2014/chart" uri="{C3380CC4-5D6E-409C-BE32-E72D297353CC}">
              <c16:uniqueId val="{00000002-8F6A-45B3-8C44-E3940E3A8BEA}"/>
            </c:ext>
          </c:extLst>
        </c:ser>
        <c:ser>
          <c:idx val="3"/>
          <c:order val="3"/>
          <c:tx>
            <c:strRef>
              <c:f>Sheet1!$E$1</c:f>
              <c:strCache>
                <c:ptCount val="1"/>
                <c:pt idx="0">
                  <c:v>Midday</c:v>
                </c:pt>
              </c:strCache>
            </c:strRef>
          </c:tx>
          <c:spPr>
            <a:solidFill>
              <a:schemeClr val="accent6">
                <a:lumMod val="60000"/>
              </a:schemeClr>
            </a:solidFill>
            <a:ln w="19050">
              <a:solidFill>
                <a:schemeClr val="lt1"/>
              </a:solidFill>
            </a:ln>
            <a:effectLst/>
          </c:spPr>
          <c:invertIfNegative val="0"/>
          <c:cat>
            <c:strRef>
              <c:f>Sheet1!$A$2:$A$20</c:f>
              <c:strCache>
                <c:ptCount val="19"/>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SawSee</c:v>
                </c:pt>
                <c:pt idx="14">
                  <c:v>SuperSport Blitz</c:v>
                </c:pt>
                <c:pt idx="15">
                  <c:v>Supersport Live Events</c:v>
                </c:pt>
                <c:pt idx="16">
                  <c:v>Trace TV</c:v>
                </c:pt>
                <c:pt idx="17">
                  <c:v>Vuzu</c:v>
                </c:pt>
                <c:pt idx="18">
                  <c:v>Wimbledon</c:v>
                </c:pt>
              </c:strCache>
            </c:strRef>
          </c:cat>
          <c:val>
            <c:numRef>
              <c:f>Sheet1!$E$2:$E$20</c:f>
              <c:numCache>
                <c:formatCode>General</c:formatCode>
                <c:ptCount val="19"/>
                <c:pt idx="0">
                  <c:v>193</c:v>
                </c:pt>
                <c:pt idx="1">
                  <c:v>154</c:v>
                </c:pt>
                <c:pt idx="2">
                  <c:v>13</c:v>
                </c:pt>
                <c:pt idx="3">
                  <c:v>175</c:v>
                </c:pt>
                <c:pt idx="4">
                  <c:v>227</c:v>
                </c:pt>
                <c:pt idx="5">
                  <c:v>96</c:v>
                </c:pt>
                <c:pt idx="6">
                  <c:v>21</c:v>
                </c:pt>
                <c:pt idx="7">
                  <c:v>72</c:v>
                </c:pt>
                <c:pt idx="8">
                  <c:v>565</c:v>
                </c:pt>
                <c:pt idx="9">
                  <c:v>8</c:v>
                </c:pt>
                <c:pt idx="11">
                  <c:v>6</c:v>
                </c:pt>
                <c:pt idx="12">
                  <c:v>23</c:v>
                </c:pt>
                <c:pt idx="13">
                  <c:v>54</c:v>
                </c:pt>
                <c:pt idx="14">
                  <c:v>208</c:v>
                </c:pt>
                <c:pt idx="15">
                  <c:v>465</c:v>
                </c:pt>
                <c:pt idx="16">
                  <c:v>232</c:v>
                </c:pt>
                <c:pt idx="17">
                  <c:v>20</c:v>
                </c:pt>
              </c:numCache>
            </c:numRef>
          </c:val>
          <c:extLst>
            <c:ext xmlns:c16="http://schemas.microsoft.com/office/drawing/2014/chart" uri="{C3380CC4-5D6E-409C-BE32-E72D297353CC}">
              <c16:uniqueId val="{00000003-8F6A-45B3-8C44-E3940E3A8BEA}"/>
            </c:ext>
          </c:extLst>
        </c:ser>
        <c:ser>
          <c:idx val="4"/>
          <c:order val="4"/>
          <c:tx>
            <c:strRef>
              <c:f>Sheet1!$F$1</c:f>
              <c:strCache>
                <c:ptCount val="1"/>
                <c:pt idx="0">
                  <c:v>Morning</c:v>
                </c:pt>
              </c:strCache>
            </c:strRef>
          </c:tx>
          <c:spPr>
            <a:solidFill>
              <a:schemeClr val="accent5">
                <a:lumMod val="60000"/>
              </a:schemeClr>
            </a:solidFill>
            <a:ln w="19050">
              <a:solidFill>
                <a:schemeClr val="lt1"/>
              </a:solidFill>
            </a:ln>
            <a:effectLst/>
          </c:spPr>
          <c:invertIfNegative val="0"/>
          <c:cat>
            <c:strRef>
              <c:f>Sheet1!$A$2:$A$20</c:f>
              <c:strCache>
                <c:ptCount val="19"/>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SawSee</c:v>
                </c:pt>
                <c:pt idx="14">
                  <c:v>SuperSport Blitz</c:v>
                </c:pt>
                <c:pt idx="15">
                  <c:v>Supersport Live Events</c:v>
                </c:pt>
                <c:pt idx="16">
                  <c:v>Trace TV</c:v>
                </c:pt>
                <c:pt idx="17">
                  <c:v>Vuzu</c:v>
                </c:pt>
                <c:pt idx="18">
                  <c:v>Wimbledon</c:v>
                </c:pt>
              </c:strCache>
            </c:strRef>
          </c:cat>
          <c:val>
            <c:numRef>
              <c:f>Sheet1!$F$2:$F$20</c:f>
              <c:numCache>
                <c:formatCode>General</c:formatCode>
                <c:ptCount val="19"/>
                <c:pt idx="0">
                  <c:v>221</c:v>
                </c:pt>
                <c:pt idx="1">
                  <c:v>202</c:v>
                </c:pt>
                <c:pt idx="2">
                  <c:v>8</c:v>
                </c:pt>
                <c:pt idx="3">
                  <c:v>222</c:v>
                </c:pt>
                <c:pt idx="4">
                  <c:v>318</c:v>
                </c:pt>
                <c:pt idx="5">
                  <c:v>146</c:v>
                </c:pt>
                <c:pt idx="6">
                  <c:v>31</c:v>
                </c:pt>
                <c:pt idx="7">
                  <c:v>89</c:v>
                </c:pt>
                <c:pt idx="8">
                  <c:v>711</c:v>
                </c:pt>
                <c:pt idx="9">
                  <c:v>9</c:v>
                </c:pt>
                <c:pt idx="11">
                  <c:v>9</c:v>
                </c:pt>
                <c:pt idx="12">
                  <c:v>28</c:v>
                </c:pt>
                <c:pt idx="13">
                  <c:v>65</c:v>
                </c:pt>
                <c:pt idx="14">
                  <c:v>252</c:v>
                </c:pt>
                <c:pt idx="15">
                  <c:v>496</c:v>
                </c:pt>
                <c:pt idx="16">
                  <c:v>247</c:v>
                </c:pt>
                <c:pt idx="17">
                  <c:v>28</c:v>
                </c:pt>
                <c:pt idx="18">
                  <c:v>3</c:v>
                </c:pt>
              </c:numCache>
            </c:numRef>
          </c:val>
          <c:extLst>
            <c:ext xmlns:c16="http://schemas.microsoft.com/office/drawing/2014/chart" uri="{C3380CC4-5D6E-409C-BE32-E72D297353CC}">
              <c16:uniqueId val="{00000004-8F6A-45B3-8C44-E3940E3A8BEA}"/>
            </c:ext>
          </c:extLst>
        </c:ser>
        <c:dLbls>
          <c:showLegendKey val="0"/>
          <c:showVal val="0"/>
          <c:showCatName val="0"/>
          <c:showSerName val="0"/>
          <c:showPercent val="0"/>
          <c:showBubbleSize val="0"/>
        </c:dLbls>
        <c:gapWidth val="150"/>
        <c:overlap val="100"/>
        <c:axId val="2064898511"/>
        <c:axId val="2064899951"/>
      </c:barChart>
      <c:catAx>
        <c:axId val="206489851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64899951"/>
        <c:auto val="1"/>
        <c:lblAlgn val="ctr"/>
        <c:lblOffset val="100"/>
        <c:noMultiLvlLbl val="0"/>
      </c:catAx>
      <c:valAx>
        <c:axId val="206489995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64898511"/>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a:lstStyle/>
        <a:p>
          <a:endParaRPr lang="en-US"/>
        </a:p>
      </dgm:t>
    </dgm:pt>
    <dgm:pt modelId="{AB52B3CC-6563-466D-BFC3-9B6B5AFA0881}" type="pres">
      <dgm:prSet presAssocID="{6A70FD8F-0050-42E3-8B3A-6ED7CFB9852E}" presName="Name0" presStyleCnt="0">
        <dgm:presLayoutVars>
          <dgm:chMax/>
          <dgm:chPref/>
          <dgm:animLvl val="lvl"/>
        </dgm:presLayoutVars>
      </dgm:prSet>
      <dgm:spPr/>
    </dgm:pt>
  </dgm:ptLst>
  <dgm:cxnLst>
    <dgm:cxn modelId="{84C67813-55CE-4EBC-9032-03BD847DC17E}" type="presOf" srcId="{6A70FD8F-0050-42E3-8B3A-6ED7CFB9852E}" destId="{AB52B3CC-6563-466D-BFC3-9B6B5AFA0881}" srcOrd="0"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10/31/2025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GB"/>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10/31/2025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10/31/2025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GB"/>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10/31/2025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10/31/2025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10/31/2025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GB"/>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10/31/2025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10/31/2025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10/31/2025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10/31/2025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chart" Target="../charts/char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l="11214" t="9091" r="41109" b="-1"/>
          <a:stretch>
            <a:fillRect/>
          </a:stretch>
        </p:blipFill>
        <p:spPr>
          <a:xfrm>
            <a:off x="20" y="10"/>
            <a:ext cx="12191980" cy="6857988"/>
          </a:xfrm>
          <a:prstGeom prst="rect">
            <a:avLst/>
          </a:prstGeom>
        </p:spPr>
      </p:pic>
      <p:sp>
        <p:nvSpPr>
          <p:cNvPr id="42" name="Rectangle 41">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059" y="457200"/>
            <a:ext cx="5010912" cy="9144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Rectangle 43">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5583" y="601197"/>
            <a:ext cx="5009388" cy="578936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837126" y="1419225"/>
            <a:ext cx="4320227" cy="2395117"/>
          </a:xfrm>
        </p:spPr>
        <p:txBody>
          <a:bodyPr>
            <a:normAutofit/>
          </a:bodyPr>
          <a:lstStyle/>
          <a:p>
            <a:pPr>
              <a:lnSpc>
                <a:spcPct val="90000"/>
              </a:lnSpc>
            </a:pPr>
            <a:br>
              <a:rPr lang="en-ZA" sz="3100" b="0" i="0" u="none" strike="noStrike" baseline="0">
                <a:solidFill>
                  <a:srgbClr val="FFFFFF"/>
                </a:solidFill>
                <a:latin typeface="Arial" panose="020B0604020202020204" pitchFamily="34" charset="0"/>
              </a:rPr>
            </a:br>
            <a:r>
              <a:rPr lang="en-ZA" sz="3100" b="0" i="0" u="none" strike="noStrike" baseline="0">
                <a:solidFill>
                  <a:srgbClr val="FFFFFF"/>
                </a:solidFill>
                <a:latin typeface="Arial" panose="020B0604020202020204" pitchFamily="34" charset="0"/>
              </a:rPr>
              <a:t>                                             </a:t>
            </a:r>
            <a:r>
              <a:rPr lang="en-ZA" sz="3100" b="1" i="0" u="none" strike="noStrike" baseline="0">
                <a:solidFill>
                  <a:srgbClr val="FFFFFF"/>
                </a:solidFill>
                <a:latin typeface="Arial" panose="020B0604020202020204" pitchFamily="34" charset="0"/>
              </a:rPr>
              <a:t>Bright-TV (Viewership Analytics </a:t>
            </a:r>
            <a:endParaRPr lang="en-US" sz="3100">
              <a:solidFill>
                <a:srgbClr val="FFFFFF"/>
              </a:solidFill>
            </a:endParaRP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837126" y="3824577"/>
            <a:ext cx="4320228" cy="1614198"/>
          </a:xfrm>
        </p:spPr>
        <p:txBody>
          <a:bodyPr>
            <a:normAutofit/>
          </a:bodyPr>
          <a:lstStyle/>
          <a:p>
            <a:endParaRPr lang="en-US" sz="1800" dirty="0">
              <a:solidFill>
                <a:srgbClr val="FFFFFF">
                  <a:alpha val="75000"/>
                </a:srgbClr>
              </a:solidFill>
            </a:endParaRPr>
          </a:p>
        </p:txBody>
      </p:sp>
    </p:spTree>
    <p:extLst>
      <p:ext uri="{BB962C8B-B14F-4D97-AF65-F5344CB8AC3E}">
        <p14:creationId xmlns:p14="http://schemas.microsoft.com/office/powerpoint/2010/main" val="24758055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p:txBody>
          <a:bodyPr/>
          <a:lstStyle/>
          <a:p>
            <a:r>
              <a:rPr lang="en-US" dirty="0"/>
              <a:t>Channel consumption by province</a:t>
            </a:r>
          </a:p>
        </p:txBody>
      </p:sp>
      <p:graphicFrame>
        <p:nvGraphicFramePr>
          <p:cNvPr id="4" name="Content Placeholder 2" descr="timeline">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248999589"/>
              </p:ext>
            </p:extLst>
          </p:nvPr>
        </p:nvGraphicFramePr>
        <p:xfrm>
          <a:off x="581025" y="2341563"/>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hart 5">
            <a:extLst>
              <a:ext uri="{FF2B5EF4-FFF2-40B4-BE49-F238E27FC236}">
                <a16:creationId xmlns:a16="http://schemas.microsoft.com/office/drawing/2014/main" id="{CF23B416-782F-AE8B-F93B-CBDF7E4EC4FB}"/>
              </a:ext>
            </a:extLst>
          </p:cNvPr>
          <p:cNvGraphicFramePr/>
          <p:nvPr>
            <p:extLst>
              <p:ext uri="{D42A27DB-BD31-4B8C-83A1-F6EECF244321}">
                <p14:modId xmlns:p14="http://schemas.microsoft.com/office/powerpoint/2010/main" val="1461967662"/>
              </p:ext>
            </p:extLst>
          </p:nvPr>
        </p:nvGraphicFramePr>
        <p:xfrm>
          <a:off x="678426" y="2113935"/>
          <a:ext cx="10225548" cy="4024398"/>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63784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F7BF9-F87D-DBDA-542E-16C261B19318}"/>
              </a:ext>
            </a:extLst>
          </p:cNvPr>
          <p:cNvSpPr>
            <a:spLocks noGrp="1"/>
          </p:cNvSpPr>
          <p:nvPr>
            <p:ph type="title"/>
          </p:nvPr>
        </p:nvSpPr>
        <p:spPr/>
        <p:txBody>
          <a:bodyPr/>
          <a:lstStyle/>
          <a:p>
            <a:r>
              <a:rPr lang="en-GB" b="1" dirty="0"/>
              <a:t>                                    Regional Highlights</a:t>
            </a:r>
            <a:br>
              <a:rPr lang="en-GB" b="1" dirty="0"/>
            </a:br>
            <a:endParaRPr lang="en-ZA" dirty="0"/>
          </a:p>
        </p:txBody>
      </p:sp>
      <p:sp>
        <p:nvSpPr>
          <p:cNvPr id="3" name="Content Placeholder 2">
            <a:extLst>
              <a:ext uri="{FF2B5EF4-FFF2-40B4-BE49-F238E27FC236}">
                <a16:creationId xmlns:a16="http://schemas.microsoft.com/office/drawing/2014/main" id="{11076886-5414-B507-E871-62C8F1430FA0}"/>
              </a:ext>
            </a:extLst>
          </p:cNvPr>
          <p:cNvSpPr>
            <a:spLocks noGrp="1"/>
          </p:cNvSpPr>
          <p:nvPr>
            <p:ph idx="1"/>
          </p:nvPr>
        </p:nvSpPr>
        <p:spPr/>
        <p:txBody>
          <a:bodyPr/>
          <a:lstStyle/>
          <a:p>
            <a:pPr>
              <a:buFont typeface="Arial" panose="020B0604020202020204" pitchFamily="34" charset="0"/>
              <a:buChar char="•"/>
            </a:pPr>
            <a:r>
              <a:rPr lang="en-GB" b="1" dirty="0"/>
              <a:t>Gauteng:</a:t>
            </a:r>
            <a:r>
              <a:rPr lang="en-GB" dirty="0"/>
              <a:t> Core market, leading in all categories — key for premium, data-rich campaigns.</a:t>
            </a:r>
          </a:p>
          <a:p>
            <a:pPr>
              <a:buFont typeface="Arial" panose="020B0604020202020204" pitchFamily="34" charset="0"/>
              <a:buChar char="•"/>
            </a:pPr>
            <a:r>
              <a:rPr lang="en-GB" b="1" dirty="0"/>
              <a:t>Western Cape:</a:t>
            </a:r>
            <a:r>
              <a:rPr lang="en-GB" dirty="0"/>
              <a:t> Strong in </a:t>
            </a:r>
            <a:r>
              <a:rPr lang="en-GB" i="1" dirty="0"/>
              <a:t>Kids</a:t>
            </a:r>
            <a:r>
              <a:rPr lang="en-GB" dirty="0"/>
              <a:t> and </a:t>
            </a:r>
            <a:r>
              <a:rPr lang="en-GB" i="1" dirty="0"/>
              <a:t>Other</a:t>
            </a:r>
            <a:r>
              <a:rPr lang="en-GB" dirty="0"/>
              <a:t> content — ideal for family-focused programming.</a:t>
            </a:r>
          </a:p>
          <a:p>
            <a:pPr>
              <a:buFont typeface="Arial" panose="020B0604020202020204" pitchFamily="34" charset="0"/>
              <a:buChar char="•"/>
            </a:pPr>
            <a:r>
              <a:rPr lang="en-GB" b="1" dirty="0"/>
              <a:t>KwaZulu-Natal:</a:t>
            </a:r>
            <a:r>
              <a:rPr lang="en-GB" dirty="0"/>
              <a:t> Balanced mix with above-average </a:t>
            </a:r>
            <a:r>
              <a:rPr lang="en-GB" i="1" dirty="0"/>
              <a:t>Sports</a:t>
            </a:r>
            <a:r>
              <a:rPr lang="en-GB" dirty="0"/>
              <a:t> viewership — potential for regional sports promos.</a:t>
            </a:r>
          </a:p>
          <a:p>
            <a:pPr>
              <a:buFont typeface="Arial" panose="020B0604020202020204" pitchFamily="34" charset="0"/>
              <a:buChar char="•"/>
            </a:pPr>
            <a:r>
              <a:rPr lang="en-GB" b="1" dirty="0"/>
              <a:t>Limpopo &amp; Mpumalanga:</a:t>
            </a:r>
            <a:r>
              <a:rPr lang="en-GB" dirty="0"/>
              <a:t> Distinct </a:t>
            </a:r>
            <a:r>
              <a:rPr lang="en-GB" i="1" dirty="0"/>
              <a:t>Sports-heavy</a:t>
            </a:r>
            <a:r>
              <a:rPr lang="en-GB" dirty="0"/>
              <a:t> provinces — opportunity for local sports or community coverage.</a:t>
            </a:r>
          </a:p>
          <a:p>
            <a:pPr>
              <a:buFont typeface="Arial" panose="020B0604020202020204" pitchFamily="34" charset="0"/>
              <a:buChar char="•"/>
            </a:pPr>
            <a:r>
              <a:rPr lang="en-GB" b="1" dirty="0"/>
              <a:t>Smaller provinces:</a:t>
            </a:r>
            <a:r>
              <a:rPr lang="en-GB" dirty="0"/>
              <a:t> (Free State, Northern Cape, Northwest) — consistent but smaller bases; could benefit from localized content and data-bundle incentives.</a:t>
            </a:r>
          </a:p>
          <a:p>
            <a:pPr marL="0" indent="0">
              <a:buNone/>
            </a:pPr>
            <a:endParaRPr lang="en-ZA" dirty="0"/>
          </a:p>
        </p:txBody>
      </p:sp>
    </p:spTree>
    <p:extLst>
      <p:ext uri="{BB962C8B-B14F-4D97-AF65-F5344CB8AC3E}">
        <p14:creationId xmlns:p14="http://schemas.microsoft.com/office/powerpoint/2010/main" val="3193062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67AB2-A9AB-09B5-7C1F-387D8B6257C7}"/>
              </a:ext>
            </a:extLst>
          </p:cNvPr>
          <p:cNvSpPr>
            <a:spLocks noGrp="1"/>
          </p:cNvSpPr>
          <p:nvPr>
            <p:ph type="title"/>
          </p:nvPr>
        </p:nvSpPr>
        <p:spPr/>
        <p:txBody>
          <a:bodyPr/>
          <a:lstStyle/>
          <a:p>
            <a:r>
              <a:rPr lang="en-ZA" dirty="0"/>
              <a:t>           Channel consumption by time of the day /category</a:t>
            </a:r>
          </a:p>
        </p:txBody>
      </p:sp>
      <p:graphicFrame>
        <p:nvGraphicFramePr>
          <p:cNvPr id="6" name="Content Placeholder 5">
            <a:extLst>
              <a:ext uri="{FF2B5EF4-FFF2-40B4-BE49-F238E27FC236}">
                <a16:creationId xmlns:a16="http://schemas.microsoft.com/office/drawing/2014/main" id="{56D2D894-7C0C-8DCA-567F-C86DBBDCD937}"/>
              </a:ext>
            </a:extLst>
          </p:cNvPr>
          <p:cNvGraphicFramePr>
            <a:graphicFrameLocks noGrp="1"/>
          </p:cNvGraphicFramePr>
          <p:nvPr>
            <p:ph idx="1"/>
            <p:extLst>
              <p:ext uri="{D42A27DB-BD31-4B8C-83A1-F6EECF244321}">
                <p14:modId xmlns:p14="http://schemas.microsoft.com/office/powerpoint/2010/main" val="3291279688"/>
              </p:ext>
            </p:extLst>
          </p:nvPr>
        </p:nvGraphicFramePr>
        <p:xfrm>
          <a:off x="581025" y="2341563"/>
          <a:ext cx="11029950" cy="363378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4568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D67CF-4284-CB52-51CB-342D003475D3}"/>
              </a:ext>
            </a:extLst>
          </p:cNvPr>
          <p:cNvSpPr>
            <a:spLocks noGrp="1"/>
          </p:cNvSpPr>
          <p:nvPr>
            <p:ph type="title"/>
          </p:nvPr>
        </p:nvSpPr>
        <p:spPr/>
        <p:txBody>
          <a:bodyPr/>
          <a:lstStyle/>
          <a:p>
            <a:r>
              <a:rPr lang="en-GB" b="1" dirty="0"/>
              <a:t>            Insights – viewers consumption by time </a:t>
            </a:r>
            <a:br>
              <a:rPr lang="en-GB" b="1" dirty="0"/>
            </a:br>
            <a:endParaRPr lang="en-ZA" dirty="0"/>
          </a:p>
        </p:txBody>
      </p:sp>
      <p:sp>
        <p:nvSpPr>
          <p:cNvPr id="3" name="Content Placeholder 2">
            <a:extLst>
              <a:ext uri="{FF2B5EF4-FFF2-40B4-BE49-F238E27FC236}">
                <a16:creationId xmlns:a16="http://schemas.microsoft.com/office/drawing/2014/main" id="{214CCA32-BDF4-5C28-E5B0-925C067EF103}"/>
              </a:ext>
            </a:extLst>
          </p:cNvPr>
          <p:cNvSpPr>
            <a:spLocks noGrp="1"/>
          </p:cNvSpPr>
          <p:nvPr>
            <p:ph idx="1"/>
          </p:nvPr>
        </p:nvSpPr>
        <p:spPr>
          <a:xfrm>
            <a:off x="581192" y="1651819"/>
            <a:ext cx="11029615" cy="4323531"/>
          </a:xfrm>
        </p:spPr>
        <p:txBody>
          <a:bodyPr/>
          <a:lstStyle/>
          <a:p>
            <a:pPr>
              <a:buFont typeface="+mj-lt"/>
              <a:buAutoNum type="arabicPeriod"/>
            </a:pPr>
            <a:r>
              <a:rPr lang="en-GB" b="1" dirty="0"/>
              <a:t>Sports = Daytime Engine:</a:t>
            </a:r>
            <a:r>
              <a:rPr lang="en-GB" dirty="0"/>
              <a:t> Major live events (e.g., ICC Cricket World Cup, SuperSport Live) create spikes in </a:t>
            </a:r>
            <a:r>
              <a:rPr lang="en-GB" b="1" dirty="0"/>
              <a:t>midday and morning</a:t>
            </a:r>
            <a:r>
              <a:rPr lang="en-GB" dirty="0"/>
              <a:t> viewership.</a:t>
            </a:r>
          </a:p>
          <a:p>
            <a:pPr>
              <a:buFont typeface="+mj-lt"/>
              <a:buAutoNum type="arabicPeriod"/>
            </a:pPr>
            <a:r>
              <a:rPr lang="en-GB" b="1" dirty="0"/>
              <a:t>Music &amp; Entertainment = Evening Loyalty:</a:t>
            </a:r>
            <a:r>
              <a:rPr lang="en-GB" dirty="0"/>
              <a:t> </a:t>
            </a:r>
            <a:r>
              <a:rPr lang="en-GB" i="1" dirty="0"/>
              <a:t>Trace TV</a:t>
            </a:r>
            <a:r>
              <a:rPr lang="en-GB" dirty="0"/>
              <a:t> and </a:t>
            </a:r>
            <a:r>
              <a:rPr lang="en-GB" i="1" dirty="0"/>
              <a:t>Africa Magic</a:t>
            </a:r>
            <a:r>
              <a:rPr lang="en-GB" dirty="0"/>
              <a:t> hold consistent evening audiences.</a:t>
            </a:r>
          </a:p>
          <a:p>
            <a:pPr>
              <a:buFont typeface="+mj-lt"/>
              <a:buAutoNum type="arabicPeriod"/>
            </a:pPr>
            <a:r>
              <a:rPr lang="en-GB" b="1" dirty="0"/>
              <a:t>Kids’ Channels = Morning &amp; Afternoon Stability:</a:t>
            </a:r>
            <a:r>
              <a:rPr lang="en-GB" dirty="0"/>
              <a:t> </a:t>
            </a:r>
            <a:r>
              <a:rPr lang="en-GB" i="1" dirty="0"/>
              <a:t>Cartoon Network</a:t>
            </a:r>
            <a:r>
              <a:rPr lang="en-GB" dirty="0"/>
              <a:t> and </a:t>
            </a:r>
            <a:r>
              <a:rPr lang="en-GB" i="1" dirty="0"/>
              <a:t>Boomerang</a:t>
            </a:r>
            <a:r>
              <a:rPr lang="en-GB" dirty="0"/>
              <a:t> maintain steady family traffic.</a:t>
            </a:r>
          </a:p>
          <a:p>
            <a:pPr>
              <a:buFont typeface="+mj-lt"/>
              <a:buAutoNum type="arabicPeriod"/>
            </a:pPr>
            <a:r>
              <a:rPr lang="en-GB" b="1" dirty="0"/>
              <a:t>Low Early Morning Engagement:</a:t>
            </a:r>
            <a:r>
              <a:rPr lang="en-GB" dirty="0"/>
              <a:t> Minimal viewership before 6 a.m. — potential slot for rebroadcasts or short news summaries.</a:t>
            </a:r>
          </a:p>
          <a:p>
            <a:endParaRPr lang="en-ZA" dirty="0"/>
          </a:p>
        </p:txBody>
      </p:sp>
    </p:spTree>
    <p:extLst>
      <p:ext uri="{BB962C8B-B14F-4D97-AF65-F5344CB8AC3E}">
        <p14:creationId xmlns:p14="http://schemas.microsoft.com/office/powerpoint/2010/main" val="3538416063"/>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{BC7C7F88-E0E3-440C-8DC2-144B11FAA66C}tf33552983_win32</Template>
  <TotalTime>22</TotalTime>
  <Words>215</Words>
  <Application>Microsoft Office PowerPoint</Application>
  <PresentationFormat>Widescreen</PresentationFormat>
  <Paragraphs>15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Franklin Gothic Book</vt:lpstr>
      <vt:lpstr>Franklin Gothic Demi</vt:lpstr>
      <vt:lpstr>Wingdings 2</vt:lpstr>
      <vt:lpstr>DividendVTI</vt:lpstr>
      <vt:lpstr>                                              Bright-TV (Viewership Analytics </vt:lpstr>
      <vt:lpstr>Channel consumption by province</vt:lpstr>
      <vt:lpstr>                                    Regional Highlights </vt:lpstr>
      <vt:lpstr>           Channel consumption by time of the day /category</vt:lpstr>
      <vt:lpstr>            Insights – viewers consumption by time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Nzama</dc:creator>
  <cp:lastModifiedBy>Andrew Nzama</cp:lastModifiedBy>
  <cp:revision>1</cp:revision>
  <dcterms:created xsi:type="dcterms:W3CDTF">2025-10-31T13:34:02Z</dcterms:created>
  <dcterms:modified xsi:type="dcterms:W3CDTF">2025-10-31T13:56:45Z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